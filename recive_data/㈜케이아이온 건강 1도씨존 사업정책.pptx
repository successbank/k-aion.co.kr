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6" r:id="rId4"/>
    <p:sldId id="258" r:id="rId5"/>
    <p:sldId id="261" r:id="rId6"/>
    <p:sldId id="259" r:id="rId7"/>
    <p:sldId id="262" r:id="rId8"/>
    <p:sldId id="265" r:id="rId9"/>
    <p:sldId id="263" r:id="rId10"/>
    <p:sldId id="270" r:id="rId11"/>
    <p:sldId id="266" r:id="rId12"/>
    <p:sldId id="264" r:id="rId13"/>
    <p:sldId id="271" r:id="rId14"/>
    <p:sldId id="267" r:id="rId15"/>
    <p:sldId id="268" r:id="rId16"/>
    <p:sldId id="269" r:id="rId17"/>
    <p:sldId id="276" r:id="rId18"/>
    <p:sldId id="272" r:id="rId19"/>
    <p:sldId id="277" r:id="rId20"/>
    <p:sldId id="273" r:id="rId21"/>
    <p:sldId id="274" r:id="rId22"/>
    <p:sldId id="275" r:id="rId23"/>
    <p:sldId id="278" r:id="rId24"/>
    <p:sldId id="279" r:id="rId25"/>
    <p:sldId id="281" r:id="rId2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706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8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154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14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45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18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27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7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874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395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489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60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ABC33-23E2-4804-8410-9B3DB2C1B169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C5B0C-F4AB-4352-9E1E-73651C2E43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382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8" y="1779662"/>
            <a:ext cx="5904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</a:p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 </a:t>
            </a:r>
            <a:r>
              <a:rPr lang="en-US" altLang="ko-KR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36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도씨존</a:t>
            </a:r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사업정책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27884" y="1378557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</a:t>
            </a:r>
            <a:r>
              <a:rPr lang="ko-KR" altLang="en-US" sz="1200" dirty="0" smtClean="0"/>
              <a:t>도와 함께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성공적인 미래</a:t>
            </a:r>
            <a:endParaRPr lang="ko-KR" alt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8742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0" b="5201"/>
          <a:stretch/>
        </p:blipFill>
        <p:spPr>
          <a:xfrm>
            <a:off x="429989" y="456516"/>
            <a:ext cx="8212013" cy="42034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 </a:t>
            </a:r>
            <a:r>
              <a:rPr lang="en-US" altLang="ko-KR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36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도씨존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181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475656" y="2787774"/>
            <a:ext cx="6192688" cy="181588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2963" b="76389" l="3125" r="9697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2282" b="23322"/>
          <a:stretch/>
        </p:blipFill>
        <p:spPr>
          <a:xfrm>
            <a:off x="1589705" y="841817"/>
            <a:ext cx="5969885" cy="18266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23728" y="1505556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 smtClean="0"/>
              <a:t>본사</a:t>
            </a:r>
            <a:endParaRPr lang="ko-KR" alt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580112" y="1411267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1</a:t>
            </a:r>
            <a:r>
              <a:rPr lang="ko-KR" altLang="en-US" sz="2400" b="1" dirty="0" err="1" smtClean="0"/>
              <a:t>도씨</a:t>
            </a:r>
            <a:r>
              <a:rPr lang="ko-KR" altLang="en-US" sz="2400" b="1" dirty="0" err="1"/>
              <a:t>존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580112" y="1795555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/>
              <a:t>(</a:t>
            </a:r>
            <a:r>
              <a:rPr lang="ko-KR" altLang="en-US" sz="1400" b="1" dirty="0" smtClean="0"/>
              <a:t>상권보장</a:t>
            </a:r>
            <a:r>
              <a:rPr lang="en-US" altLang="ko-KR" sz="1400" b="1" dirty="0" smtClean="0"/>
              <a:t>)</a:t>
            </a:r>
            <a:endParaRPr lang="ko-KR" altLang="en-US" sz="1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844527" y="1862928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accent3">
                    <a:lumMod val="50000"/>
                  </a:schemeClr>
                </a:solidFill>
              </a:rPr>
              <a:t>지사장</a:t>
            </a:r>
            <a:endParaRPr lang="en-US" altLang="ko-KR" sz="14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sz="1400" b="1" dirty="0" smtClean="0">
                <a:solidFill>
                  <a:schemeClr val="accent3">
                    <a:lumMod val="50000"/>
                  </a:schemeClr>
                </a:solidFill>
              </a:rPr>
              <a:t>지역권 관리</a:t>
            </a:r>
            <a:endParaRPr lang="ko-KR" altLang="en-US" sz="1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58359" y="1203598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accent3">
                    <a:lumMod val="50000"/>
                  </a:schemeClr>
                </a:solidFill>
              </a:rPr>
              <a:t>영업이사</a:t>
            </a:r>
            <a:endParaRPr lang="en-US" altLang="ko-KR" sz="1400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sz="1400" b="1" dirty="0" smtClean="0">
                <a:solidFill>
                  <a:schemeClr val="accent3">
                    <a:lumMod val="50000"/>
                  </a:schemeClr>
                </a:solidFill>
              </a:rPr>
              <a:t>전국관리</a:t>
            </a:r>
            <a:endParaRPr lang="ko-KR" altLang="en-US" sz="1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538047" y="2787774"/>
            <a:ext cx="59958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ko-KR" altLang="en-US" sz="2800" b="1" dirty="0" smtClean="0"/>
              <a:t>본사와 대리점 계약</a:t>
            </a:r>
            <a:endParaRPr lang="en-US" altLang="ko-KR" sz="2800" b="1" dirty="0" smtClean="0"/>
          </a:p>
          <a:p>
            <a:pPr marL="342900" indent="-342900">
              <a:buFont typeface="Arial" charset="0"/>
              <a:buChar char="•"/>
            </a:pPr>
            <a:r>
              <a:rPr lang="en-US" altLang="ko-KR" sz="2800" b="1" dirty="0" smtClean="0"/>
              <a:t>2860</a:t>
            </a:r>
            <a:r>
              <a:rPr lang="ko-KR" altLang="en-US" sz="2800" b="1" dirty="0" smtClean="0"/>
              <a:t>만원의 창업 비용 </a:t>
            </a:r>
            <a:endParaRPr lang="en-US" altLang="ko-KR" sz="2800" b="1" dirty="0"/>
          </a:p>
          <a:p>
            <a:pPr marL="342900" indent="-342900">
              <a:buFont typeface="Arial" charset="0"/>
              <a:buChar char="•"/>
            </a:pPr>
            <a:r>
              <a:rPr lang="ko-KR" altLang="en-US" sz="2800" b="1" dirty="0" smtClean="0"/>
              <a:t>임대 또는 소유의 매장 </a:t>
            </a:r>
            <a:r>
              <a:rPr lang="en-US" altLang="ko-KR" sz="2800" b="1" dirty="0" smtClean="0"/>
              <a:t>(10</a:t>
            </a:r>
            <a:r>
              <a:rPr lang="ko-KR" altLang="en-US" sz="2800" b="1" dirty="0" smtClean="0"/>
              <a:t>평 이상</a:t>
            </a:r>
            <a:r>
              <a:rPr lang="en-US" altLang="ko-KR" sz="2800" b="1" dirty="0" smtClean="0"/>
              <a:t>)</a:t>
            </a:r>
          </a:p>
          <a:p>
            <a:pPr marL="342900" indent="-342900">
              <a:buFont typeface="Arial" charset="0"/>
              <a:buChar char="•"/>
            </a:pPr>
            <a:r>
              <a:rPr lang="en-US" altLang="ko-KR" sz="2800" b="1" dirty="0" smtClean="0"/>
              <a:t>4</a:t>
            </a:r>
            <a:r>
              <a:rPr lang="ko-KR" altLang="en-US" sz="2800" b="1" dirty="0" smtClean="0"/>
              <a:t>회의 점주 교육 참여</a:t>
            </a:r>
            <a:endParaRPr lang="en-US" altLang="ko-KR" sz="2800" b="1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 </a:t>
            </a:r>
            <a:r>
              <a:rPr lang="en-US" altLang="ko-KR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36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도씨존</a:t>
            </a:r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계약조건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075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7" b="9952"/>
          <a:stretch/>
        </p:blipFill>
        <p:spPr>
          <a:xfrm>
            <a:off x="-1423" y="921660"/>
            <a:ext cx="9144000" cy="36288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305252" y="195486"/>
            <a:ext cx="6461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 </a:t>
            </a:r>
            <a:r>
              <a:rPr lang="en-US" altLang="ko-KR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36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도씨존</a:t>
            </a:r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혜택과 운영원칙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38074" y="1907768"/>
            <a:ext cx="343838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ko-KR" altLang="en-US" sz="2000" b="1" dirty="0" smtClean="0"/>
              <a:t>판매 가격준수</a:t>
            </a:r>
            <a:endParaRPr lang="en-US" altLang="ko-KR" sz="2000" b="1" dirty="0" smtClean="0"/>
          </a:p>
          <a:p>
            <a:pPr marL="342900" indent="-342900">
              <a:buFont typeface="Arial" charset="0"/>
              <a:buChar char="•"/>
            </a:pPr>
            <a:endParaRPr lang="en-US" altLang="ko-KR" sz="2000" b="1" dirty="0" smtClean="0"/>
          </a:p>
          <a:p>
            <a:pPr marL="342900" indent="-342900">
              <a:buFont typeface="Arial" charset="0"/>
              <a:buChar char="•"/>
            </a:pPr>
            <a:r>
              <a:rPr lang="ko-KR" altLang="en-US" sz="2000" b="1" dirty="0" smtClean="0"/>
              <a:t>철저한 고객 관리</a:t>
            </a:r>
            <a:endParaRPr lang="en-US" altLang="ko-KR" sz="2000" b="1" dirty="0" smtClean="0"/>
          </a:p>
          <a:p>
            <a:pPr marL="342900" indent="-342900">
              <a:buFont typeface="Arial" charset="0"/>
              <a:buChar char="•"/>
            </a:pPr>
            <a:endParaRPr lang="en-US" altLang="ko-KR" sz="2000" b="1" dirty="0" smtClean="0"/>
          </a:p>
          <a:p>
            <a:pPr marL="342900" indent="-342900">
              <a:buFont typeface="Arial" charset="0"/>
              <a:buChar char="•"/>
            </a:pPr>
            <a:r>
              <a:rPr lang="ko-KR" altLang="en-US" sz="2000" b="1" dirty="0" smtClean="0"/>
              <a:t>본사 교육 필수 참여</a:t>
            </a:r>
            <a:endParaRPr lang="en-US" altLang="ko-KR" sz="2000" b="1" dirty="0" smtClean="0"/>
          </a:p>
          <a:p>
            <a:pPr marL="342900" indent="-342900">
              <a:buFont typeface="Arial" charset="0"/>
              <a:buChar char="•"/>
            </a:pPr>
            <a:endParaRPr lang="en-US" altLang="ko-KR" sz="2000" b="1" dirty="0" smtClean="0"/>
          </a:p>
          <a:p>
            <a:pPr marL="342900" indent="-342900">
              <a:buFont typeface="Arial" charset="0"/>
              <a:buChar char="•"/>
            </a:pPr>
            <a:r>
              <a:rPr lang="ko-KR" altLang="en-US" sz="2000" b="1" dirty="0" smtClean="0"/>
              <a:t>본사의 정책 및 방침 준수</a:t>
            </a:r>
            <a:endParaRPr lang="en-US" altLang="ko-KR" sz="20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46283" y="1707654"/>
            <a:ext cx="39699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ko-KR" altLang="en-US" b="1" dirty="0" smtClean="0"/>
              <a:t>본사 제품 지원 </a:t>
            </a:r>
            <a:r>
              <a:rPr lang="en-US" altLang="ko-KR" b="1" dirty="0" smtClean="0"/>
              <a:t>(1330</a:t>
            </a:r>
            <a:r>
              <a:rPr lang="ko-KR" altLang="en-US" b="1" dirty="0" smtClean="0"/>
              <a:t>만원</a:t>
            </a:r>
            <a:r>
              <a:rPr lang="en-US" altLang="ko-KR" b="1" dirty="0" smtClean="0"/>
              <a:t>)</a:t>
            </a:r>
          </a:p>
          <a:p>
            <a:pPr marL="285750" indent="-285750">
              <a:buFont typeface="Arial" charset="0"/>
              <a:buChar char="•"/>
            </a:pPr>
            <a:endParaRPr lang="en-US" altLang="ko-KR" b="1" dirty="0"/>
          </a:p>
          <a:p>
            <a:pPr marL="285750" indent="-285750">
              <a:buFont typeface="Arial" charset="0"/>
              <a:buChar char="•"/>
            </a:pPr>
            <a:r>
              <a:rPr lang="ko-KR" altLang="en-US" b="1" dirty="0" smtClean="0"/>
              <a:t>정착지원금 </a:t>
            </a:r>
            <a:r>
              <a:rPr lang="en-US" altLang="ko-KR" b="1" dirty="0" smtClean="0"/>
              <a:t>200</a:t>
            </a:r>
            <a:r>
              <a:rPr lang="ko-KR" altLang="en-US" b="1" dirty="0" smtClean="0"/>
              <a:t>만원 </a:t>
            </a:r>
            <a:r>
              <a:rPr lang="en-US" altLang="ko-KR" b="1" dirty="0" smtClean="0"/>
              <a:t>(100</a:t>
            </a:r>
            <a:r>
              <a:rPr lang="ko-KR" altLang="en-US" b="1" dirty="0" smtClean="0"/>
              <a:t>만원씩</a:t>
            </a:r>
            <a:r>
              <a:rPr lang="en-US" altLang="ko-KR" b="1" dirty="0" smtClean="0"/>
              <a:t>)</a:t>
            </a:r>
          </a:p>
          <a:p>
            <a:pPr marL="285750" indent="-285750">
              <a:buFont typeface="Arial" charset="0"/>
              <a:buChar char="•"/>
            </a:pPr>
            <a:endParaRPr lang="en-US" altLang="ko-KR" b="1" dirty="0" smtClean="0"/>
          </a:p>
          <a:p>
            <a:pPr marL="285750" indent="-285750">
              <a:buFont typeface="Arial" charset="0"/>
              <a:buChar char="•"/>
            </a:pPr>
            <a:r>
              <a:rPr lang="ko-KR" altLang="en-US" b="1" dirty="0" smtClean="0"/>
              <a:t>상권보장</a:t>
            </a:r>
            <a:endParaRPr lang="en-US" altLang="ko-KR" b="1" dirty="0" smtClean="0"/>
          </a:p>
          <a:p>
            <a:pPr marL="285750" indent="-285750">
              <a:buFont typeface="Arial" charset="0"/>
              <a:buChar char="•"/>
            </a:pPr>
            <a:endParaRPr lang="en-US" altLang="ko-KR" b="1" dirty="0" smtClean="0"/>
          </a:p>
          <a:p>
            <a:pPr marL="285750" indent="-285750">
              <a:buFont typeface="Arial" charset="0"/>
              <a:buChar char="•"/>
            </a:pPr>
            <a:r>
              <a:rPr lang="en-US" altLang="ko-KR" b="1" dirty="0" smtClean="0"/>
              <a:t>1</a:t>
            </a:r>
            <a:r>
              <a:rPr lang="ko-KR" altLang="en-US" b="1" dirty="0" err="1" smtClean="0"/>
              <a:t>도씨존</a:t>
            </a:r>
            <a:r>
              <a:rPr lang="ko-KR" altLang="en-US" b="1" dirty="0" smtClean="0"/>
              <a:t> 대리점 발굴 시 </a:t>
            </a:r>
            <a:r>
              <a:rPr lang="en-US" altLang="ko-KR" b="1" dirty="0" smtClean="0"/>
              <a:t>500</a:t>
            </a:r>
            <a:r>
              <a:rPr lang="ko-KR" altLang="en-US" b="1" dirty="0" smtClean="0"/>
              <a:t>만원</a:t>
            </a:r>
            <a:endParaRPr lang="en-US" altLang="ko-KR" b="1" dirty="0" smtClean="0"/>
          </a:p>
          <a:p>
            <a:pPr marL="285750" indent="-285750">
              <a:buFont typeface="Arial" charset="0"/>
              <a:buChar char="•"/>
            </a:pPr>
            <a:endParaRPr lang="en-US" altLang="ko-KR" b="1" dirty="0" smtClean="0"/>
          </a:p>
          <a:p>
            <a:pPr marL="285750" indent="-285750">
              <a:buFont typeface="Arial" charset="0"/>
              <a:buChar char="•"/>
            </a:pPr>
            <a:r>
              <a:rPr lang="ko-KR" altLang="en-US" b="1" dirty="0" smtClean="0"/>
              <a:t>지사장 승진 기회 부여</a:t>
            </a:r>
            <a:endParaRPr lang="en-US" altLang="ko-KR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763688" y="987574"/>
            <a:ext cx="93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혜택</a:t>
            </a:r>
            <a:endParaRPr lang="en-US" altLang="ko-KR" b="1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44208" y="987574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운영원칙</a:t>
            </a:r>
            <a:endParaRPr lang="en-US" altLang="ko-KR" b="1" dirty="0" smtClean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2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0" b="11185"/>
          <a:stretch/>
        </p:blipFill>
        <p:spPr>
          <a:xfrm>
            <a:off x="0" y="1205636"/>
            <a:ext cx="9144000" cy="33625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창업지원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267744" y="1851670"/>
            <a:ext cx="1080120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간판 지원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83568" y="2447166"/>
            <a:ext cx="2448272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팜플렛</a:t>
            </a:r>
            <a:r>
              <a:rPr lang="en-US" altLang="ko-KR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배너 등 홍보물 지원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259632" y="3060069"/>
            <a:ext cx="1800200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인테리어 시안 제공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827584" y="3723878"/>
            <a:ext cx="2448272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고객관리카드</a:t>
            </a:r>
            <a:r>
              <a:rPr lang="en-US" altLang="ko-KR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, </a:t>
            </a:r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시스템 지원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5796134" y="1851670"/>
            <a:ext cx="1584177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이벤트 제품 지원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012160" y="2447166"/>
            <a:ext cx="2861087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각종 홍보 영상 및 체험사례 제공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084168" y="3060069"/>
            <a:ext cx="2016224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점주 교육 시스템 제공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796134" y="3732262"/>
            <a:ext cx="2016226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분기별 특별 시책 제공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42340" y="836305"/>
            <a:ext cx="425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{</a:t>
            </a:r>
            <a:r>
              <a:rPr lang="ko-KR" altLang="en-US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정착지원금 </a:t>
            </a:r>
            <a:r>
              <a:rPr lang="en-US" altLang="ko-KR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200</a:t>
            </a:r>
            <a:r>
              <a:rPr lang="ko-KR" altLang="en-US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만원</a:t>
            </a:r>
            <a:r>
              <a:rPr lang="en-US" altLang="ko-KR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(</a:t>
            </a:r>
            <a:r>
              <a:rPr lang="ko-KR" altLang="en-US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매달 </a:t>
            </a:r>
            <a:r>
              <a:rPr lang="en-US" altLang="ko-KR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100</a:t>
            </a:r>
            <a:r>
              <a:rPr lang="ko-KR" altLang="en-US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만원</a:t>
            </a:r>
            <a:r>
              <a:rPr lang="en-US" altLang="ko-KR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)}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3947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0" b="11185"/>
          <a:stretch/>
        </p:blipFill>
        <p:spPr>
          <a:xfrm>
            <a:off x="0" y="1205636"/>
            <a:ext cx="9144000" cy="33625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제품지원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1493992" y="1959682"/>
            <a:ext cx="1512168" cy="504056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저주파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</a:t>
            </a:r>
            <a:endParaRPr lang="ko-KR" altLang="en-US" sz="20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1493992" y="3435846"/>
            <a:ext cx="1512168" cy="504056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초음파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</a:t>
            </a:r>
            <a:endParaRPr lang="ko-KR" altLang="en-US" sz="20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025022" y="1959682"/>
            <a:ext cx="2219386" cy="684076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통증패치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20box</a:t>
            </a:r>
          </a:p>
          <a:p>
            <a:pPr algn="ctr"/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(12</a:t>
            </a:r>
            <a:r>
              <a:rPr lang="ko-KR" altLang="en-US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개입</a:t>
            </a:r>
            <a:r>
              <a:rPr lang="en-US" altLang="ko-KR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6025022" y="3435846"/>
            <a:ext cx="2281054" cy="504056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프리미엄 젤 </a:t>
            </a:r>
            <a:r>
              <a:rPr lang="en-US" altLang="ko-KR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20</a:t>
            </a:r>
            <a:r>
              <a:rPr lang="ko-KR" altLang="en-US" sz="20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개</a:t>
            </a:r>
            <a:endParaRPr lang="ko-KR" altLang="en-US" sz="20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42340" y="836305"/>
            <a:ext cx="4259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{1330</a:t>
            </a:r>
            <a:r>
              <a:rPr lang="ko-KR" altLang="en-US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만원 상당 제품 지원</a:t>
            </a:r>
            <a:r>
              <a:rPr lang="en-US" altLang="ko-KR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}</a:t>
            </a:r>
            <a:endParaRPr lang="ko-KR" altLang="en-US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8742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0" b="11185"/>
          <a:stretch/>
        </p:blipFill>
        <p:spPr>
          <a:xfrm>
            <a:off x="0" y="1205636"/>
            <a:ext cx="9144000" cy="33625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교육지원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971600" y="3723878"/>
            <a:ext cx="2304256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월 </a:t>
            </a:r>
            <a:r>
              <a:rPr lang="en-US" altLang="ko-KR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1.000</a:t>
            </a:r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만원 마진 노하우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403648" y="1851670"/>
            <a:ext cx="1944216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회사의 이념 및 가치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259632" y="2447166"/>
            <a:ext cx="1872208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400" dirty="0" err="1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도씨</a:t>
            </a:r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제품의 탁월함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83568" y="3060069"/>
            <a:ext cx="2376264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홈케어</a:t>
            </a:r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치료기기의 시장성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5796134" y="1851670"/>
            <a:ext cx="1708961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영업 관리 및 지도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6012161" y="2447166"/>
            <a:ext cx="2088231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사업 운영 관리 </a:t>
            </a:r>
            <a:r>
              <a:rPr lang="ko-KR" altLang="en-US" sz="1400" dirty="0" err="1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메뉴얼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6084168" y="3060069"/>
            <a:ext cx="2016224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매장 관리 실전 노하우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796134" y="3732262"/>
            <a:ext cx="2016226" cy="288032"/>
          </a:xfrm>
          <a:prstGeom prst="roundRect">
            <a:avLst/>
          </a:prstGeom>
          <a:solidFill>
            <a:srgbClr val="FF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CS </a:t>
            </a:r>
            <a:r>
              <a:rPr lang="ko-KR" altLang="en-US" sz="1400" dirty="0" smtClean="0">
                <a:solidFill>
                  <a:schemeClr val="accent3">
                    <a:lumMod val="50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및 본사 파견 교육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3947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8" y="1779662"/>
            <a:ext cx="5904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</a:p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 </a:t>
            </a:r>
            <a:r>
              <a:rPr lang="en-US" altLang="ko-KR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36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도씨존</a:t>
            </a:r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창업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85846" y="1364412"/>
            <a:ext cx="2700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내 몸을 따뜻하게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건강 </a:t>
            </a:r>
            <a:r>
              <a:rPr lang="en-US" altLang="ko-KR" sz="1200" dirty="0" smtClean="0"/>
              <a:t>1</a:t>
            </a:r>
            <a:r>
              <a:rPr lang="ko-KR" altLang="en-US" sz="1200" dirty="0" err="1" smtClean="0"/>
              <a:t>도씨존</a:t>
            </a:r>
            <a:endParaRPr lang="ko-KR" alt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8209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67" b="17128"/>
          <a:stretch/>
        </p:blipFill>
        <p:spPr>
          <a:xfrm>
            <a:off x="0" y="841816"/>
            <a:ext cx="9144000" cy="34206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계약 시 필수 준비사항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3052" y="2198667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임대차</a:t>
            </a:r>
            <a:endParaRPr lang="en-US" altLang="ko-KR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계약서</a:t>
            </a:r>
            <a:endParaRPr lang="ko-KR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18329" y="2060168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의료기기</a:t>
            </a:r>
            <a:endParaRPr lang="en-US" altLang="ko-KR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판매업</a:t>
            </a:r>
            <a:endParaRPr lang="en-US" altLang="ko-KR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b="1" dirty="0" err="1" smtClean="0">
                <a:solidFill>
                  <a:schemeClr val="accent3">
                    <a:lumMod val="50000"/>
                  </a:schemeClr>
                </a:solidFill>
              </a:rPr>
              <a:t>신고증</a:t>
            </a:r>
            <a:endParaRPr lang="ko-KR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96983" y="1962100"/>
            <a:ext cx="2016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b="1" dirty="0" smtClean="0">
                <a:solidFill>
                  <a:schemeClr val="bg1"/>
                </a:solidFill>
              </a:rPr>
              <a:t>사업자등록증</a:t>
            </a:r>
            <a:endParaRPr lang="ko-KR" altLang="en-US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51920" y="2198667"/>
            <a:ext cx="1584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건강기능식품</a:t>
            </a:r>
            <a:endParaRPr lang="en-US" altLang="ko-KR" b="1" dirty="0" smtClean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ko-KR" altLang="en-US" b="1" dirty="0" smtClean="0">
                <a:solidFill>
                  <a:schemeClr val="accent3">
                    <a:lumMod val="50000"/>
                  </a:schemeClr>
                </a:solidFill>
              </a:rPr>
              <a:t>영업 </a:t>
            </a:r>
            <a:r>
              <a:rPr lang="ko-KR" altLang="en-US" b="1" dirty="0" err="1" smtClean="0">
                <a:solidFill>
                  <a:schemeClr val="accent3">
                    <a:lumMod val="50000"/>
                  </a:schemeClr>
                </a:solidFill>
              </a:rPr>
              <a:t>신고증</a:t>
            </a:r>
            <a:endParaRPr lang="ko-KR" altLang="en-US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3947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8" y="1779662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01 </a:t>
            </a:r>
            <a:r>
              <a:rPr lang="ko-KR" altLang="en-US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사업장 계약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347864" y="1371446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내 몸을 따뜻하게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건강 </a:t>
            </a:r>
            <a:r>
              <a:rPr lang="en-US" altLang="ko-KR" sz="1200" dirty="0" smtClean="0"/>
              <a:t>1</a:t>
            </a:r>
            <a:r>
              <a:rPr lang="ko-KR" altLang="en-US" sz="1200" dirty="0" err="1" smtClean="0"/>
              <a:t>도씨존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021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67" b="17128"/>
          <a:stretch/>
        </p:blipFill>
        <p:spPr>
          <a:xfrm>
            <a:off x="0" y="841816"/>
            <a:ext cx="9144000" cy="342069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사업장 계약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2320224"/>
            <a:ext cx="1584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accent3">
                    <a:lumMod val="50000"/>
                  </a:schemeClr>
                </a:solidFill>
              </a:rPr>
              <a:t>제품 검토</a:t>
            </a:r>
            <a:endParaRPr lang="ko-KR" alt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52967" y="2219569"/>
            <a:ext cx="23042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800" b="1" dirty="0" smtClean="0">
                <a:solidFill>
                  <a:schemeClr val="bg1"/>
                </a:solidFill>
              </a:rPr>
              <a:t>잔금 지급</a:t>
            </a:r>
            <a:endParaRPr lang="ko-KR" altLang="en-US" sz="3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4617" y="232022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accent3">
                    <a:lumMod val="50000"/>
                  </a:schemeClr>
                </a:solidFill>
              </a:rPr>
              <a:t>현장 방문</a:t>
            </a:r>
            <a:endParaRPr lang="ko-KR" alt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5634" y="232022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solidFill>
                  <a:schemeClr val="accent3">
                    <a:lumMod val="50000"/>
                  </a:schemeClr>
                </a:solidFill>
              </a:rPr>
              <a:t>계약금 지급</a:t>
            </a:r>
            <a:endParaRPr lang="ko-KR" altLang="en-US" sz="20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4227934"/>
            <a:ext cx="856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FF0000"/>
                </a:solidFill>
              </a:rPr>
              <a:t>*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계약 시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렌탈프리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제안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/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잔금 지급 후 사업자등록증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or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사업자 번호 전달하여 현금영수증 발행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2721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10616"/>
            <a:ext cx="7658100" cy="375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 현장 체크리스트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947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8" y="1779662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02 </a:t>
            </a:r>
            <a:r>
              <a:rPr lang="ko-KR" altLang="en-US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신고 및 허가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347864" y="1371446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내 몸을 따뜻하게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건강 </a:t>
            </a:r>
            <a:r>
              <a:rPr lang="en-US" altLang="ko-KR" sz="1200" dirty="0" smtClean="0"/>
              <a:t>1</a:t>
            </a:r>
            <a:r>
              <a:rPr lang="ko-KR" altLang="en-US" sz="1200" dirty="0" err="1" smtClean="0"/>
              <a:t>도씨존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9971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00439" y="195486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의료기기 판매업 신고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623" y="836305"/>
            <a:ext cx="6317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정부 </a:t>
            </a:r>
            <a:r>
              <a:rPr lang="en-US" altLang="ko-KR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24 </a:t>
            </a:r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홈페이지에서 신청 가능 </a:t>
            </a:r>
            <a:r>
              <a:rPr lang="en-US" altLang="ko-KR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/ </a:t>
            </a:r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해당 지역 관할 보건소에서 수령</a:t>
            </a:r>
            <a:endParaRPr lang="ko-KR" altLang="en-US" sz="1600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647" y="1265901"/>
            <a:ext cx="6968697" cy="3334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2602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건강기능식품 법정 교육 이수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623" y="836305"/>
            <a:ext cx="6317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건강기능식품 교육센터 </a:t>
            </a:r>
            <a:r>
              <a:rPr lang="en-US" altLang="ko-KR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(https://edu.khff.or.kr)</a:t>
            </a:r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에서 교육 신청</a:t>
            </a:r>
            <a:endParaRPr lang="ko-KR" altLang="en-US" sz="1600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446" y="1341282"/>
            <a:ext cx="6454775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2602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건강기능식품 영업 신고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623" y="836305"/>
            <a:ext cx="6317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정부 </a:t>
            </a:r>
            <a:r>
              <a:rPr lang="en-US" altLang="ko-KR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24 </a:t>
            </a:r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홈페이지에서 신청 및 출력 가능</a:t>
            </a:r>
            <a:endParaRPr lang="ko-KR" altLang="en-US" sz="1600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43609" y="1059582"/>
            <a:ext cx="6696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(</a:t>
            </a:r>
            <a:r>
              <a:rPr lang="ko-KR" altLang="en-US" sz="14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영업 신고 시 건강기능식품 법정 교육 </a:t>
            </a:r>
            <a:r>
              <a:rPr lang="ko-KR" altLang="en-US" sz="1400" b="1" dirty="0" err="1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이수증</a:t>
            </a:r>
            <a:r>
              <a:rPr lang="en-US" altLang="ko-KR" sz="14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14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임대차 계약서 첨부 필요</a:t>
            </a:r>
            <a:r>
              <a:rPr lang="en-US" altLang="ko-KR" sz="14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)</a:t>
            </a:r>
            <a:endParaRPr lang="ko-KR" altLang="en-US" sz="1400" b="1" dirty="0">
              <a:solidFill>
                <a:srgbClr val="FF0000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568" y="1419622"/>
            <a:ext cx="6576855" cy="302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602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8" y="1779662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03 </a:t>
            </a:r>
            <a:r>
              <a:rPr lang="ko-KR" altLang="en-US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사업자 등록 신청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47864" y="1371446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내 몸을 따뜻하게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건강 </a:t>
            </a:r>
            <a:r>
              <a:rPr lang="en-US" altLang="ko-KR" sz="1200" dirty="0" smtClean="0"/>
              <a:t>1</a:t>
            </a:r>
            <a:r>
              <a:rPr lang="ko-KR" altLang="en-US" sz="1200" dirty="0" err="1" smtClean="0"/>
              <a:t>도씨존</a:t>
            </a:r>
            <a:endParaRPr lang="ko-KR" alt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93684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사업자등록 신청 및 발급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87623" y="836305"/>
            <a:ext cx="6317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국세청 </a:t>
            </a:r>
            <a:r>
              <a:rPr lang="ko-KR" altLang="en-US" sz="1600" dirty="0" err="1" smtClean="0">
                <a:latin typeface="HY중고딕" panose="02030600000101010101" pitchFamily="18" charset="-127"/>
                <a:ea typeface="HY중고딕" panose="02030600000101010101" pitchFamily="18" charset="-127"/>
              </a:rPr>
              <a:t>홈택스</a:t>
            </a:r>
            <a:r>
              <a:rPr lang="ko-KR" altLang="en-US" sz="16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홈페이지에서 신청 및 발급 가능</a:t>
            </a:r>
            <a:endParaRPr lang="ko-KR" altLang="en-US" sz="1600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1" y="1151229"/>
            <a:ext cx="8640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(</a:t>
            </a:r>
            <a:r>
              <a:rPr lang="ko-KR" altLang="en-US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임대차 계약서</a:t>
            </a:r>
            <a:r>
              <a:rPr lang="en-US" altLang="ko-KR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의료기기 판매업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신고증</a:t>
            </a:r>
            <a:r>
              <a:rPr lang="en-US" altLang="ko-KR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건강기능식품 법정 교육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이수증</a:t>
            </a:r>
            <a:r>
              <a:rPr lang="en-US" altLang="ko-KR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, </a:t>
            </a:r>
            <a:r>
              <a:rPr lang="ko-KR" altLang="en-US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건강기능식품 영업 </a:t>
            </a:r>
            <a:r>
              <a:rPr lang="ko-KR" altLang="en-US" sz="1200" b="1" dirty="0" err="1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신고증</a:t>
            </a:r>
            <a:r>
              <a:rPr lang="ko-KR" altLang="en-US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첨부 필요</a:t>
            </a:r>
            <a:r>
              <a:rPr lang="en-US" altLang="ko-KR" sz="1200" b="1" dirty="0" smtClean="0">
                <a:solidFill>
                  <a:srgbClr val="FF0000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)</a:t>
            </a:r>
            <a:endParaRPr lang="ko-KR" altLang="en-US" sz="1200" b="1" dirty="0">
              <a:solidFill>
                <a:srgbClr val="FF0000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308" y="1491630"/>
            <a:ext cx="6385365" cy="2943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5267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8" y="1779662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04 </a:t>
            </a:r>
            <a:r>
              <a:rPr lang="ko-KR" altLang="en-US" sz="3600" spc="5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대출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47864" y="1371446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내 몸을 따뜻하게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건강 </a:t>
            </a:r>
            <a:r>
              <a:rPr lang="en-US" altLang="ko-KR" sz="1200" dirty="0" smtClean="0"/>
              <a:t>1</a:t>
            </a:r>
            <a:r>
              <a:rPr lang="ko-KR" altLang="en-US" sz="1200" dirty="0" err="1" smtClean="0"/>
              <a:t>도씨존</a:t>
            </a:r>
            <a:endParaRPr lang="ko-KR" alt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8659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각 지역 신용부증재단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63" y="930374"/>
            <a:ext cx="7712075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267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서민금융진흥원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863600"/>
            <a:ext cx="7673975" cy="341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5267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소상공인시장진흥공단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486" y="905254"/>
            <a:ext cx="6195020" cy="3582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267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 </a:t>
            </a:r>
            <a:r>
              <a:rPr lang="en-US" altLang="ko-KR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36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도씨존</a:t>
            </a:r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매장 이미지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452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403648" y="195486"/>
            <a:ext cx="6192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건강 </a:t>
            </a:r>
            <a:r>
              <a:rPr lang="en-US" altLang="ko-KR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3600" dirty="0" err="1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도씨존</a:t>
            </a:r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 매장 이미지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452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3668" y="1779662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endParaRPr lang="ko-KR" alt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47864" y="1364412"/>
            <a:ext cx="23762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내 몸을 따뜻하게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건강 </a:t>
            </a:r>
            <a:r>
              <a:rPr lang="en-US" altLang="ko-KR" sz="1200" dirty="0" smtClean="0"/>
              <a:t>1</a:t>
            </a:r>
            <a:r>
              <a:rPr lang="ko-KR" altLang="en-US" sz="1200" dirty="0" err="1" smtClean="0"/>
              <a:t>도씨존</a:t>
            </a:r>
            <a:endParaRPr lang="ko-KR" alt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3833918" y="4568229"/>
            <a:ext cx="1404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smtClean="0"/>
              <a:t>㈜ </a:t>
            </a:r>
            <a:r>
              <a:rPr lang="ko-KR" altLang="en-US" sz="1400" b="1" dirty="0" err="1" smtClean="0"/>
              <a:t>케이아이온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3827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448</Words>
  <Application>Microsoft Office PowerPoint</Application>
  <PresentationFormat>화면 슬라이드 쇼(16:9)</PresentationFormat>
  <Paragraphs>130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</cp:revision>
  <dcterms:created xsi:type="dcterms:W3CDTF">2025-12-14T14:26:33Z</dcterms:created>
  <dcterms:modified xsi:type="dcterms:W3CDTF">2025-12-16T15:01:53Z</dcterms:modified>
</cp:coreProperties>
</file>